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[Student name] placeholders with the five group members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scope small: two connected use cases, in-memory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rule has a type, a responsible component and a violation outcome. Rules match the code names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Object = defined by its value. Entity = defined by identity that persists while its data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Aggregates never hold direct object references to each other; they only share payroll_id.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basic 1,000,000, no unpaid leave. Gross 1,000,000. PAYE = 25,000 + 30% of 590,000 = 202,000. NSSF 5% = 50,000. Net = 748,000.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repository per aggregate root. Children (PayrollLine, PaymentInstruction) are stored inside their root, so they have no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is produced from check_dependencies.py, which reads the real import statements. Arrow = depends on (imports).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service coordinates: find, ask the aggregate, save, publish events. It contains no PAYE, state or payment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aggregates never call each other. The event is the only link. Handling is synchronous, in-process.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python -m unittest discover -s tests -v. Result in test_output.txt: Ran 8 tests,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files: tdd_evidence/1_failing_test_output.txt, 2_implementation_change.diff, 3_passing_test_output.txt. Money first had no validation, so T1 failed for the right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comes from the demo: python -m payroll_app.interface.cli finance.officer. LEC-001 net 748,000 plus LEC-002 net 1,770,274 = 2,518,274.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change really happened: the first version of cli.py imported the domain event, and check_dependencies.py flagged Interface to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entry can be found in the submitted source and in test_output.txt.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 Monthly Payroll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03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Design, TDD and Clean Architecture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payroll for lecturers at Makerere University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Coursework  |  Department of Networks, School of Computing and Informatics Technology, Makerere University  |  Instructor: Kasozi W. Vincent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548640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17524F"/>
          </a:solidFill>
          <a:ln w="6350">
            <a:solidFill>
              <a:srgbClr val="17524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Lead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[Reg no.]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335024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17524F"/>
          </a:solidFill>
          <a:ln w="6350">
            <a:solidFill>
              <a:srgbClr val="17524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·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Lead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[Reg no.]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21408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17524F"/>
          </a:solidFill>
          <a:ln w="6350">
            <a:solidFill>
              <a:srgbClr val="17524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·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Lead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[Reg no.]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907792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17524F"/>
          </a:solidFill>
          <a:ln w="6350">
            <a:solidFill>
              <a:srgbClr val="17524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 ·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Lead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[Reg no.]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3694176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17524F"/>
          </a:solidFill>
          <a:ln w="6350">
            <a:solidFill>
              <a:srgbClr val="17524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 · 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Lead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[Reg no.]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scope and key terms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Member 1, Domain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75" dirty="0"/>
          </a:p>
          <a:p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Lecturers must receive the correct net salary on time, and no payroll may go to the bank until a second person has approved it.</a:t>
            </a:r>
            <a:endParaRPr lang="en-US" sz="1375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75" dirty="0"/>
          </a:p>
          <a:p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approve a prepared payroll.</a:t>
            </a:r>
            <a:endParaRPr lang="en-US" sz="1375" dirty="0"/>
          </a:p>
          <a:p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create the bank payment order after approval.</a:t>
            </a:r>
            <a:endParaRPr lang="en-US" sz="1375" dirty="0"/>
          </a:p>
          <a:p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PAYE, NSSF and unpaid-leave calculation.</a:t>
            </a:r>
            <a:endParaRPr lang="en-US" sz="1375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5176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75" dirty="0"/>
          </a:p>
          <a:p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capture, payslip PDFs, the real bank transfer, remitting PAYE/NSSF, web interface, database.</a:t>
            </a:r>
            <a:endParaRPr lang="en-US" sz="1375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265176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375" dirty="0"/>
          </a:p>
          <a:p>
            <a:pPr algn="l" indent="0" marL="0">
              <a:buNone/>
            </a:pPr>
            <a:r>
              <a:rPr lang="en-US" sz="13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Payroll: </a:t>
            </a:r>
            <a:pPr algn="l" indent="0" marL="0">
              <a:buNone/>
            </a:pPr>
            <a:r>
              <a:rPr lang="en-US" sz="1375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 sheet for one month</a:t>
            </a:r>
            <a:endParaRPr lang="en-US" sz="1375" dirty="0"/>
          </a:p>
          <a:p>
            <a:pPr algn="l" indent="0" marL="0">
              <a:buNone/>
            </a:pPr>
            <a:r>
              <a:rPr lang="en-US" sz="13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line: </a:t>
            </a:r>
            <a:pPr algn="l" indent="0" marL="0">
              <a:buNone/>
            </a:pPr>
            <a:r>
              <a:rPr lang="en-US" sz="1375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lecturer's pay in that payroll</a:t>
            </a:r>
            <a:endParaRPr lang="en-US" sz="1375" dirty="0"/>
          </a:p>
          <a:p>
            <a:pPr algn="l" indent="0" marL="0">
              <a:buNone/>
            </a:pPr>
            <a:r>
              <a:rPr lang="en-US" sz="13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/ Net: </a:t>
            </a:r>
            <a:pPr algn="l" indent="0" marL="0">
              <a:buNone/>
            </a:pPr>
            <a:r>
              <a:rPr lang="en-US" sz="1375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before / after deductions</a:t>
            </a:r>
            <a:endParaRPr lang="en-US" sz="1375" dirty="0"/>
          </a:p>
          <a:p>
            <a:pPr algn="l" indent="0" marL="0">
              <a:buNone/>
            </a:pPr>
            <a:r>
              <a:rPr lang="en-US" sz="13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PAYE, NSSF: </a:t>
            </a:r>
            <a:pPr algn="l" indent="0" marL="0">
              <a:buNone/>
            </a:pPr>
            <a:r>
              <a:rPr lang="en-US" sz="1375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and social-security deduction</a:t>
            </a:r>
            <a:endParaRPr lang="en-US" sz="1375" dirty="0"/>
          </a:p>
          <a:p>
            <a:pPr algn="l" indent="0" marL="0">
              <a:buNone/>
            </a:pPr>
            <a:r>
              <a:rPr lang="en-US" sz="13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order: </a:t>
            </a:r>
            <a:pPr algn="l" indent="0" marL="0">
              <a:buNone/>
            </a:pPr>
            <a:r>
              <a:rPr lang="en-US" sz="1375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to the bank to pay the net amounts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business rules: BR1 to BR6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Member 1, Domain Lead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154680"/>
                <a:gridCol w="21031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violated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BR1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is a whole, non-negative number of UGX.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(Value Object)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InvalidMoney; object is not created.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BR2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payroll moves only PREPARED to APPROVED, by someone other than its preparer. Approved payrolls are locked.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(Aggregate Root A)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raised; status unchanged; no event.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BR3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payment order has at least one payment, each with a bank account, and no lecturer twice.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PaymentOrder (Aggregate Root B)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InvalidPaymentOrder; order not created.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BR4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Cross-concept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pay = basic + allowances - unpaid leave - PAYE - NSSF (needs contract, leave and tax rules).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PayrollCalculator (Domain Service)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InvalidPayrollInput if unpaid days are out of range.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BR5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 payroll is approved, a payment order must be requested.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raises PayrollApproved; handler asks PaymentOrder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B refuses: payroll stays approved, outcome REJECTED with reason.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BR6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payroll must be found before approval can start.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PayrollRepository + ApprovePayrollService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NOT_FOUND; nothing changes; no event.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Object and Entities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|  Member 2, Domain Model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Object: Money</a:t>
            </a:r>
            <a:endParaRPr lang="en-US" sz="1375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BR1</a:t>
            </a:r>
            <a:endParaRPr lang="en-US" sz="1375" dirty="0"/>
          </a:p>
          <a:p>
            <a:pPr algn="l" indent="0" marL="0">
              <a:buNone/>
            </a:pPr>
            <a:r>
              <a:rPr lang="en-US" sz="143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Whole, non-negative UGX. Invalid money cannot exist.</a:t>
            </a:r>
            <a:endParaRPr lang="en-US" sz="1375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75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identity?</a:t>
            </a:r>
            <a:endParaRPr lang="en-US" sz="1375" dirty="0"/>
          </a:p>
          <a:p>
            <a:pPr algn="l" indent="0" marL="0">
              <a:buNone/>
            </a:pPr>
            <a:r>
              <a:rPr lang="en-US" sz="143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UGX 5,000 is the same as any other UGX 5,000. It is immutable and compared by value, so two equal amounts are interchangeable.</a:t>
            </a:r>
            <a:endParaRPr lang="en-US" sz="1375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097280"/>
            <a:ext cx="4663440" cy="841248"/>
          </a:xfrm>
          <a:prstGeom prst="roundRect">
            <a:avLst>
              <a:gd name="adj" fmla="val 8696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 </a:t>
            </a:r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payroll_id (one per period). Its status changes over time: BR2.</a:t>
            </a:r>
            <a:endParaRPr lang="en-US" sz="1375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2057400"/>
            <a:ext cx="4663440" cy="841248"/>
          </a:xfrm>
          <a:prstGeom prst="roundRect">
            <a:avLst>
              <a:gd name="adj" fmla="val 8696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PayrollLine  </a:t>
            </a:r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lecturer_id, unique inside one payroll.</a:t>
            </a:r>
            <a:endParaRPr lang="en-US" sz="1375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3017520"/>
            <a:ext cx="4663440" cy="841248"/>
          </a:xfrm>
          <a:prstGeom prst="roundRect">
            <a:avLst>
              <a:gd name="adj" fmla="val 8696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PaymentOrder  </a:t>
            </a:r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order_id. Created from one approved payroll: BR3.</a:t>
            </a:r>
            <a:endParaRPr lang="en-US" sz="1375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397764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375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</a:t>
            </a:r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BR1 leads to the Money value object. BR2 leads to Payroll as an entity whose state changes.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aggregates and their invariants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|  Member 2, Domain Model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</a:t>
            </a:r>
            <a:endParaRPr lang="en-US" sz="1375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46304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75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Root</a:t>
            </a:r>
            <a:endParaRPr lang="en-US" sz="1375" dirty="0"/>
          </a:p>
        </p:txBody>
      </p:sp>
      <p:sp>
        <p:nvSpPr>
          <p:cNvPr id="7" name="Shape 4"/>
          <p:cNvSpPr/>
          <p:nvPr/>
        </p:nvSpPr>
        <p:spPr>
          <a:xfrm>
            <a:off x="2331720" y="2084832"/>
            <a:ext cx="0" cy="310896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777240" y="239572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DB8B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63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PayrollLine</a:t>
            </a:r>
            <a:endParaRPr lang="en-US" sz="1375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objects (many)</a:t>
            </a:r>
            <a:endParaRPr lang="en-US" sz="1375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090672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13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(BR2): </a:t>
            </a:r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to APPROVED only, by a different person; locked once approved.</a:t>
            </a:r>
            <a:endParaRPr lang="en-US" sz="1313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0515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</a:t>
            </a:r>
            <a:endParaRPr lang="en-US" sz="1375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146304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PaymentOrder</a:t>
            </a:r>
            <a:endParaRPr lang="en-US" sz="1375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Root</a:t>
            </a:r>
            <a:endParaRPr lang="en-US" sz="1375" dirty="0"/>
          </a:p>
        </p:txBody>
      </p:sp>
      <p:sp>
        <p:nvSpPr>
          <p:cNvPr id="12" name="Shape 9"/>
          <p:cNvSpPr/>
          <p:nvPr/>
        </p:nvSpPr>
        <p:spPr>
          <a:xfrm>
            <a:off x="6812280" y="2084832"/>
            <a:ext cx="0" cy="310896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257800" y="239572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9DB8B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63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PaymentInstruction</a:t>
            </a:r>
            <a:endParaRPr lang="en-US" sz="1375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objects (many)</a:t>
            </a:r>
            <a:endParaRPr lang="en-US" sz="1375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3090672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13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(BR3): </a:t>
            </a:r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payment, each with a bank account, no lecturer twice.</a:t>
            </a:r>
            <a:endParaRPr lang="en-US" sz="1313" dirty="0"/>
          </a:p>
        </p:txBody>
      </p:sp>
      <p:sp>
        <p:nvSpPr>
          <p:cNvPr id="15" name="Shape 12"/>
          <p:cNvSpPr/>
          <p:nvPr/>
        </p:nvSpPr>
        <p:spPr>
          <a:xfrm>
            <a:off x="4224528" y="1828800"/>
            <a:ext cx="694944" cy="0"/>
          </a:xfrm>
          <a:prstGeom prst="line">
            <a:avLst/>
          </a:prstGeom>
          <a:noFill/>
          <a:ln w="22225">
            <a:solidFill>
              <a:srgbClr val="F2A541"/>
            </a:solidFill>
            <a:prstDash val="dash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20624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375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Supertype: used. </a:t>
            </a:r>
            <a:pPr algn="l" indent="0" marL="0">
              <a:buNone/>
            </a:pPr>
            <a:r>
              <a:rPr lang="en-US" sz="13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AggregateRoot base class gives both roots the same event recording (record and pull events), so the code is written once.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Service (BR4) and Factory decision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|  Member 2, Domain Model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2032" tIns="2032" rIns="2032" bIns="2032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PayrollCalculator</a:t>
            </a:r>
            <a:endParaRPr lang="en-US" sz="1375" dirty="0"/>
          </a:p>
          <a:p>
            <a:pPr algn="l" indent="0" marL="0">
              <a:buNone/>
            </a:pPr>
            <a:r>
              <a:rPr lang="en-US" sz="156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basic salary, allowances, unpaid leave days, working days, statutory rates.</a:t>
            </a:r>
            <a:endParaRPr lang="en-US" sz="1375" dirty="0"/>
          </a:p>
          <a:p>
            <a:pPr algn="l" indent="0" marL="0">
              <a:buNone/>
            </a:pPr>
            <a:r>
              <a:rPr lang="en-US" sz="156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gross, PAYE, NSSF and net pay for one PayrollLine.</a:t>
            </a:r>
            <a:endParaRPr lang="en-US" sz="1375" dirty="0"/>
          </a:p>
          <a:p>
            <a:pPr algn="l" indent="0" marL="0">
              <a:buNone/>
            </a:pPr>
            <a:r>
              <a:rPr lang="en-US" sz="1563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service? </a:t>
            </a:r>
            <a:pPr algn="l" indent="0" marL="0">
              <a:buNone/>
            </a:pPr>
            <a:r>
              <a:rPr lang="en-US" sz="156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calculation needs contract figures, leave days and tax rules together. No single entity owns all three, and it keeps no state.</a:t>
            </a:r>
            <a:endParaRPr lang="en-US" sz="1375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8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2032" tIns="2032" rIns="2032" bIns="2032" rtlCol="0" anchor="ctr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</a:t>
            </a:r>
            <a:pPr algn="l" indent="0" marL="0">
              <a:buNone/>
            </a:pPr>
            <a:r>
              <a:rPr lang="en-US" sz="156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1,000,000 UGX, no unpaid leave. PAYE 202,000 and NSSF 50,000 are deducted, so net pay is 748,000 UGX.</a:t>
            </a:r>
            <a:endParaRPr lang="en-US" sz="1375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1097280"/>
            <a:ext cx="3154680" cy="3520440"/>
          </a:xfrm>
          <a:prstGeom prst="roundRect">
            <a:avLst>
              <a:gd name="adj" fmla="val 2319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2032" tIns="2032" rIns="2032" bIns="2032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Factory: not used</a:t>
            </a:r>
            <a:endParaRPr lang="en-US" sz="1375" dirty="0"/>
          </a:p>
          <a:p>
            <a:pPr algn="l" indent="0" marL="0">
              <a:buNone/>
            </a:pPr>
            <a:r>
              <a:rPr lang="en-US" sz="1563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algn="l" indent="0" marL="0">
              <a:buNone/>
            </a:pPr>
            <a:r>
              <a:rPr lang="en-US" sz="156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PaymentOrder has one check (BR3), and PaymentOrder.request() already does it. A factory would only forward the call.</a:t>
            </a:r>
            <a:endParaRPr lang="en-US" sz="1375" dirty="0"/>
          </a:p>
          <a:p>
            <a:pPr algn="l" indent="0" marL="0">
              <a:buNone/>
            </a:pPr>
            <a:r>
              <a:rPr lang="en-US" sz="6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75" dirty="0"/>
          </a:p>
          <a:p>
            <a:pPr algn="l" indent="0" marL="0">
              <a:buNone/>
            </a:pPr>
            <a:r>
              <a:rPr lang="en-US" sz="1563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would add one: </a:t>
            </a:r>
            <a:pPr algn="l" indent="0" marL="0">
              <a:buNone/>
            </a:pPr>
            <a:r>
              <a:rPr lang="en-US" sz="156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creation grew, for example order numbering or many creation rules.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|  Member 3, Architecture Lead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4688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 (Application layer)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implementation (Infrastructure)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stores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PayrollRepository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get(payroll_id)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save(payroll)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InMemoryPayrollRepository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aggregates (with their lines), keyed by payroll_id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PaymentOrderRepository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get_by_payroll(payroll_id)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save(order)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InMemoryPaymentOrderRepository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PaymentOrder aggregates (with their instructions), keyed by payroll_id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abstractions?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 depends on an interface, not on a dictionary. Tests and the demo inject the in-memory version; a real database could replace it without touching the domain.</a:t>
            </a:r>
            <a:endParaRPr lang="en-US" sz="1375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live?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Abstractions are in the Application layer because the use case needs them. Implementations are in Infrastructure and depend inwards on those abstractions.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Architecture: dependencies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|  Member 3, Architecture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2057400" y="1051560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25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75" dirty="0"/>
          </a:p>
          <a:p>
            <a:pPr algn="ctr" indent="0" marL="0">
              <a:buNone/>
            </a:pPr>
            <a:r>
              <a:rPr lang="en-US" sz="1125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cli.py: entry point, wires everything</a:t>
            </a:r>
            <a:endParaRPr lang="en-US" sz="1375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423160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25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75" dirty="0"/>
          </a:p>
          <a:p>
            <a:pPr algn="ctr" indent="0" marL="0">
              <a:buNone/>
            </a:pPr>
            <a:r>
              <a:rPr lang="en-US" sz="1125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repositories, sample data</a:t>
            </a:r>
            <a:endParaRPr lang="en-US" sz="1375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2423160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25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75" dirty="0"/>
          </a:p>
          <a:p>
            <a:pPr algn="ctr" indent="0" marL="0">
              <a:buNone/>
            </a:pPr>
            <a:r>
              <a:rPr lang="en-US" sz="1125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ApprovePayrollService, DTOs, repository abstractions, event handler</a:t>
            </a:r>
            <a:endParaRPr lang="en-US" sz="1375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3840480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75" dirty="0"/>
          </a:p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Payroll, PaymentOrder, PayrollCalculator, PayrollApproved</a:t>
            </a:r>
            <a:endParaRPr lang="en-US" sz="1375" dirty="0"/>
          </a:p>
        </p:txBody>
      </p:sp>
      <p:sp>
        <p:nvSpPr>
          <p:cNvPr id="9" name="Shape 6"/>
          <p:cNvSpPr/>
          <p:nvPr/>
        </p:nvSpPr>
        <p:spPr>
          <a:xfrm flipH="1">
            <a:off x="1691640" y="1856232"/>
            <a:ext cx="1005840" cy="566928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703320" y="1856232"/>
            <a:ext cx="1005840" cy="566928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43200" y="2825496"/>
            <a:ext cx="91440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691640" y="3227832"/>
            <a:ext cx="960120" cy="612648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 flipH="1">
            <a:off x="3749040" y="3227832"/>
            <a:ext cx="960120" cy="612648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6309360" y="1051560"/>
            <a:ext cx="2377440" cy="3593592"/>
          </a:xfrm>
          <a:prstGeom prst="roundRect">
            <a:avLst>
              <a:gd name="adj" fmla="val 3077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</a:t>
            </a:r>
            <a:endParaRPr lang="en-US" sz="137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nothing</a:t>
            </a:r>
            <a:endParaRPr lang="en-US" sz="137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domain</a:t>
            </a:r>
            <a:endParaRPr lang="en-US" sz="137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application, domain</a:t>
            </a:r>
            <a:endParaRPr lang="en-US" sz="137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application, infrastructure</a:t>
            </a:r>
            <a:endParaRPr lang="en-US" sz="1375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75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dependencies point inwards. The domain imports nothing from the other layers.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Service, DTOs and injection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|  Member 3, Architecture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524" tIns="1524" rIns="1524" bIns="1524" rtlCol="0" anchor="t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DTO</a:t>
            </a:r>
            <a:endParaRPr lang="en-US" sz="1375" dirty="0"/>
          </a:p>
          <a:p>
            <a:pPr algn="l" indent="0" marL="0">
              <a:buNone/>
            </a:pPr>
            <a:r>
              <a:rPr lang="en-US" sz="1375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ApprovePayrollInput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payroll_id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approver_id</a:t>
            </a:r>
            <a:endParaRPr lang="en-US" sz="1375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09728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524" tIns="1524" rIns="1524" bIns="1524" rtlCol="0" anchor="t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ApprovePayrollService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find payroll (BR6)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approve (BR2, in the aggregate)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save, then publish events</a:t>
            </a:r>
            <a:endParaRPr lang="en-US" sz="1375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0972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524" tIns="1524" rIns="1524" bIns="1524" rtlCol="0" anchor="t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DTO</a:t>
            </a:r>
            <a:endParaRPr lang="en-US" sz="1375" dirty="0"/>
          </a:p>
          <a:p>
            <a:pPr algn="l" indent="0" marL="0">
              <a:buNone/>
            </a:pPr>
            <a:r>
              <a:rPr lang="en-US" sz="1375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ApprovePayrollOutput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payroll_status, payment_status,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payment_order_id, total_paid,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75" dirty="0"/>
          </a:p>
        </p:txBody>
      </p:sp>
      <p:sp>
        <p:nvSpPr>
          <p:cNvPr id="8" name="Shape 5"/>
          <p:cNvSpPr/>
          <p:nvPr/>
        </p:nvSpPr>
        <p:spPr>
          <a:xfrm>
            <a:off x="2834640" y="1801368"/>
            <a:ext cx="32004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989320" y="1801368"/>
            <a:ext cx="32004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457200" y="274320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receives its collaborators through its constructor: a PayrollRepository and an EventDispatcher. It never creates them.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receives a PaymentOrderRepository the same way.</a:t>
            </a:r>
            <a:endParaRPr lang="en-US" sz="1375" dirty="0"/>
          </a:p>
          <a:p>
            <a:pPr algn="l" indent="0" marL="0">
              <a:buNone/>
            </a:pPr>
            <a:r>
              <a:rPr lang="en-US" sz="137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layer (cli.py) supplies the in-memory implementations; the tests supply their own. Same service, different wiring.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BR5: Domain Event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|  Member 5, Integration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DTO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645920" y="1531620"/>
            <a:ext cx="18288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1828800" y="109728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17520" y="1531620"/>
            <a:ext cx="18288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200400" y="109728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531620"/>
            <a:ext cx="18288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572000" y="109728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2A541"/>
          </a:solidFill>
          <a:ln w="6350">
            <a:solidFill>
              <a:srgbClr val="F2A54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PayrollApproved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1531620"/>
            <a:ext cx="18288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943600" y="109728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order request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1531620"/>
            <a:ext cx="18288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7315200" y="109728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PaymentOrder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name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PayrollApproved (payroll id, period, payments)</a:t>
            </a:r>
            <a:endParaRPr lang="en-US" sz="1375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is raised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was PREPARED, approver differs from preparer (BR2 passed); status is now APPROVED.</a:t>
            </a:r>
            <a:endParaRPr lang="en-US" sz="1375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does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payment instructions from the event and asks PaymentOrder to be created. It then saves the order.</a:t>
            </a:r>
            <a:endParaRPr lang="en-US" sz="1375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5204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B checks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BR3: each payment has a bank account, none duplicated, at least one. If not, it refuses.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T1 to T8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|  Member 4, Testing Lead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4297680"/>
                <a:gridCol w="2880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 BR1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Money(0) is valid (boundary); Money(-1) and Money(10.5) are rejected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whole, non-negative amounts exist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 BR2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Preparer cannot approve; a different person can; approving twice or editing afterwards is refused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only once; errors otherwise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 BR3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payment is valid (boundary); none, missing bank account, or duplicate lecturer are rejected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total correct; three rejections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 BR4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 gives PAYE 202,000, NSSF 50,000, net 748,000; 235,000 gives PAYE 0 (boundary); 23 unpaid of 22 days rejected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figures; one rejection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 BR5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records one PayrollApproved; failed approval records none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only after success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 BR6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payroll id stops the use case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NOT_FOUND; no event, no order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 Main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Approve, event handled, PaymentOrder created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APPROVED, payment CREATED, total = net total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  B rejects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without bank account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APPROVED, payment REJECTED, no order stored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TDD example: T1 (Money, BR1)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 |  Member 4, Testing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B5462F"/>
          </a:solidFill>
          <a:ln w="6350">
            <a:solidFill>
              <a:srgbClr val="B5462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RED: failing test</a:t>
            </a:r>
            <a:endParaRPr lang="en-US" sz="1375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written first. Money had no validation yet.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86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5F4"/>
          </a:solidFill>
          <a:ln w="12700">
            <a:solidFill>
              <a:srgbClr val="9DB8B0"/>
            </a:solidFill>
          </a:ln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AssertionError:</a:t>
            </a: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InvalidMoney not raised</a:t>
            </a:r>
            <a:endParaRPr lang="en-US" sz="1155" dirty="0"/>
          </a:p>
          <a:p>
            <a:pPr algn="l" indent="0" marL="0">
              <a:buNone/>
            </a:pP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1 test</a:t>
            </a: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(failures=1)</a:t>
            </a:r>
            <a:endParaRPr lang="en-US" sz="1155" dirty="0"/>
          </a:p>
        </p:txBody>
      </p:sp>
      <p:sp>
        <p:nvSpPr>
          <p:cNvPr id="8" name="Shape 5"/>
          <p:cNvSpPr/>
          <p:nvPr/>
        </p:nvSpPr>
        <p:spPr>
          <a:xfrm>
            <a:off x="3108960" y="1348740"/>
            <a:ext cx="13716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246120" y="10972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2A7F62"/>
          </a:solidFill>
          <a:ln w="6350">
            <a:solidFill>
              <a:srgbClr val="2A7F62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GREEN: implement</a:t>
            </a:r>
            <a:endParaRPr lang="en-US" sz="1375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change: validate in the constructor.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2286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5F4"/>
          </a:solidFill>
          <a:ln w="12700">
            <a:solidFill>
              <a:srgbClr val="9DB8B0"/>
            </a:solidFill>
          </a:ln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a whole number</a:t>
            </a: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amount &lt; 0:</a:t>
            </a: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InvalidMoney(...)</a:t>
            </a:r>
            <a:endParaRPr lang="en-US" sz="1155" dirty="0"/>
          </a:p>
        </p:txBody>
      </p:sp>
      <p:sp>
        <p:nvSpPr>
          <p:cNvPr id="12" name="Shape 9"/>
          <p:cNvSpPr/>
          <p:nvPr/>
        </p:nvSpPr>
        <p:spPr>
          <a:xfrm>
            <a:off x="5897880" y="1348740"/>
            <a:ext cx="13716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035040" y="10972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5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PASS: test passes</a:t>
            </a:r>
            <a:endParaRPr lang="en-US" sz="1375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test, no other change.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2286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3F5F4"/>
          </a:solidFill>
          <a:ln w="12700">
            <a:solidFill>
              <a:srgbClr val="9DB8B0"/>
            </a:solidFill>
          </a:ln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test_T1_BR1_money_value_object</a:t>
            </a: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ok</a:t>
            </a:r>
            <a:endParaRPr lang="en-US" sz="1155" dirty="0"/>
          </a:p>
          <a:p>
            <a:pPr algn="l" indent="0" marL="0">
              <a:buNone/>
            </a:pP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1 test</a:t>
            </a:r>
            <a:endParaRPr lang="en-US" sz="1155" dirty="0"/>
          </a:p>
          <a:p>
            <a:pPr algn="l" indent="0" marL="0">
              <a:buNone/>
            </a:pPr>
            <a:r>
              <a:rPr lang="en-US" sz="998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155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438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cycle: </a:t>
            </a:r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suite ran with 8 tests, OK (test_output.txt).</a:t>
            </a:r>
            <a:endParaRPr lang="en-US" sz="143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Walkthrough: approve a payroll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 |  Member 5, Integration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051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DTO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payroll_id PR-2026-09, approver finance.officer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00784"/>
            <a:ext cx="411480" cy="411480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6550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(BR6)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PayrollRepository.get() finds the payroll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04288"/>
            <a:ext cx="411480" cy="411480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2585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(BR2)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Payroll.approve(): PREPARED to APPROVED; records PayrollApproved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07792"/>
            <a:ext cx="411480" cy="411480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8620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dispatch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saves Payroll and dispatches the event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34655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instructions and calls PaymentOrder.request()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0F3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4069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(BR3) 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lecturers have bank accounts: order accepted and saved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1051560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2032" tIns="2032" rIns="2032" bIns="2032" rtlCol="0" anchor="t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DTO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payroll_status: APPROVED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payment_status: CREATED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payment_order_id: PO-PR-2026-09</a:t>
            </a:r>
            <a:endParaRPr lang="en-US" sz="1375" dirty="0"/>
          </a:p>
          <a:p>
            <a:pPr algn="l" indent="0" marL="0">
              <a:buNone/>
            </a:pPr>
            <a:r>
              <a:rPr lang="en-US" sz="131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total_paid: 2,518,274 UGX</a:t>
            </a:r>
            <a:endParaRPr lang="en-US" sz="1375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329184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1778" tIns="1778" rIns="1778" bIns="1778" rtlCol="0" anchor="t"/>
          <a:lstStyle/>
          <a:p>
            <a:pPr algn="l" indent="0" marL="0">
              <a:buNone/>
            </a:pPr>
            <a:r>
              <a:rPr lang="en-US" sz="1438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endings</a:t>
            </a:r>
            <a:endParaRPr lang="en-US" sz="1375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approves: PREPARED, no event.</a:t>
            </a:r>
            <a:endParaRPr lang="en-US" sz="1375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id: NOT_FOUND.</a:t>
            </a:r>
            <a:endParaRPr lang="en-US" sz="1375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account: APPROVED, but payment REJECTED.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design we changed and one we rejected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 |  Member 5, Integration Lead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8F1EE"/>
          </a:solidFill>
          <a:ln w="6350">
            <a:solidFill>
              <a:srgbClr val="E8F1EE"/>
            </a:solidFill>
          </a:ln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375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1438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handler is registered</a:t>
            </a:r>
            <a:endParaRPr lang="en-US" sz="1438" dirty="0"/>
          </a:p>
          <a:p>
            <a:pPr algn="l" indent="0" marL="0">
              <a:buNone/>
            </a:pPr>
            <a:r>
              <a:rPr lang="en-US" sz="6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38" dirty="0"/>
          </a:p>
          <a:p>
            <a:pPr algn="l" indent="0" marL="0">
              <a:buNone/>
            </a:pPr>
            <a:r>
              <a:rPr lang="en-US" sz="1438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layer imported PayrollApproved to register the handler. The dependency check reported Interface depending on Domain.</a:t>
            </a:r>
            <a:endParaRPr lang="en-US" sz="1438" dirty="0"/>
          </a:p>
          <a:p>
            <a:pPr algn="l" indent="0" marL="0">
              <a:buNone/>
            </a:pPr>
            <a:r>
              <a:rPr lang="en-US" sz="6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38" dirty="0"/>
          </a:p>
          <a:p>
            <a:pPr algn="l" indent="0" marL="0">
              <a:buNone/>
            </a:pPr>
            <a:r>
              <a:rPr lang="en-US" sz="1438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build_dispatcher() function in the Application layer does the registration. Interface now depends only on Application and Infrastructure, matching Slide 8.</a:t>
            </a:r>
            <a:endParaRPr lang="en-US" sz="1438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FF3DF"/>
          </a:solidFill>
          <a:ln w="6350">
            <a:solidFill>
              <a:srgbClr val="FFF3DF"/>
            </a:solidFill>
          </a:ln>
        </p:spPr>
        <p:txBody>
          <a:bodyPr wrap="square" lIns="2286" tIns="2286" rIns="2286" bIns="2286" rtlCol="0" anchor="t"/>
          <a:lstStyle/>
          <a:p>
            <a:pPr algn="l" indent="0" marL="0">
              <a:buNone/>
            </a:pPr>
            <a:r>
              <a:rPr lang="en-US" sz="1375" b="1" dirty="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38" dirty="0"/>
          </a:p>
          <a:p>
            <a:pPr algn="l" indent="0" marL="0">
              <a:buNone/>
            </a:pPr>
            <a:r>
              <a:rPr lang="en-US" sz="1875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creates the PaymentOrder itself</a:t>
            </a:r>
            <a:endParaRPr lang="en-US" sz="1438" dirty="0"/>
          </a:p>
          <a:p>
            <a:pPr algn="l" indent="0" marL="0">
              <a:buNone/>
            </a:pPr>
            <a:r>
              <a:rPr lang="en-US" sz="6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38" dirty="0"/>
          </a:p>
          <a:p>
            <a:pPr algn="l" indent="0" marL="0">
              <a:buNone/>
            </a:pPr>
            <a:r>
              <a:rPr lang="en-US" sz="1438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</a:t>
            </a:r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Payroll.approve() would build and return a PaymentOrder directly.</a:t>
            </a:r>
            <a:endParaRPr lang="en-US" sz="1438" dirty="0"/>
          </a:p>
          <a:p>
            <a:pPr algn="l" indent="0" marL="0">
              <a:buNone/>
            </a:pPr>
            <a:r>
              <a:rPr lang="en-US" sz="6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38" dirty="0"/>
          </a:p>
          <a:p>
            <a:pPr algn="l" indent="0" marL="0">
              <a:buNone/>
            </a:pPr>
            <a:r>
              <a:rPr lang="en-US" sz="1438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not: </a:t>
            </a:r>
            <a:pPr algn="l" indent="0" marL="0">
              <a:buNone/>
            </a:pPr>
            <a:r>
              <a:rPr lang="en-US" sz="1438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 would know Aggregate B and change it, breaking the boundary and BR5. With an event, Payroll only announces what happened and PaymentOrder enforces BR3 by itself.</a:t>
            </a:r>
            <a:endParaRPr lang="en-US" sz="143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 and 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 |  Member 5, Integration Lead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389120"/>
                <a:gridCol w="128016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code /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BR1 Value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(Value Object), validation in constructor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BR2 State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Payroll.approve() and add_line()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T2, T5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BR3 Invariant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PaymentOrder.request()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T3, T8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BR4 Cross-concept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PayrollCalculator.calculate_line() (Domain Service)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BR5 Follow-up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PayrollApproved, then CreatePaymentOrderOnPayrollApproved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T5, T7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BR6 Lookup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PayrollRepository.get() inside ApprovePayrollService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2A7F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F3D3E"/>
          </a:solidFill>
          <a:ln w="6350">
            <a:solidFill>
              <a:srgbClr val="0F3D3E"/>
            </a:solidFill>
          </a:ln>
        </p:spPr>
        <p:txBody>
          <a:bodyPr wrap="square" lIns="2286" tIns="2286" rIns="2286" bIns="2286" rtlCol="0" anchor="ctr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</a:t>
            </a:r>
            <a:pPr algn="l" indent="0" marL="0">
              <a:buNone/>
            </a:pPr>
            <a:r>
              <a:rPr lang="en-US" sz="143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led to two aggregates, one value object, one domain service, one domain event, two repositories and four layers. 8 of 8 tests pass, and the dependency check confirms the architecture diagram.</a:t>
            </a:r>
            <a:endParaRPr lang="en-US" sz="13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Lecturer Monthly Payroll - DDD, TDD and Clean Architecture</dc:title>
  <dc:subject>PptxGenJS Presentation</dc:subject>
  <dc:creator>PptxGenJS</dc:creator>
  <cp:lastModifiedBy>PptxGenJS</cp:lastModifiedBy>
  <cp:revision>1</cp:revision>
  <dcterms:created xsi:type="dcterms:W3CDTF">2026-09-21T08:27:16Z</dcterms:created>
  <dcterms:modified xsi:type="dcterms:W3CDTF">2026-09-21T08:27:16Z</dcterms:modified>
</cp:coreProperties>
</file>